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</a:rPr>
              <a:t>静态分析误报自动识别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0">
                <a:solidFill>
                  <a:srgbClr val="BFD3EA"/>
                </a:solidFill>
                <a:latin typeface="微软雅黑"/>
              </a:rPr>
              <a:t>基于 clang 的无虚警误报判定  (ReduceFalsePositives)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8CA8C9"/>
                </a:solidFill>
                <a:latin typeface="微软雅黑"/>
              </a:rPr>
              <a:t>汇报人 / 部门 /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14300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143000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静态分析误报多，人工复核成本高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64792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为什么难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64792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误报判定的不可判定性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86584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86584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核心解法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86584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无虚警保证：宁可漏判，绝不误杀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08376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008376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技术选型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08376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正则 / libclang / clangd 三板斧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30168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30168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规则覆盖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0168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7 条规则 × 判定依据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5196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工程架构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251960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分层 + 多进程 + compile_commands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73752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73752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落地效果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873752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误报率 / 效率 / 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95544"/>
            <a:ext cx="6400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95544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微软雅黑"/>
              </a:rPr>
              <a:t>挑战与下一步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495544"/>
            <a:ext cx="64008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微软雅黑"/>
              </a:rPr>
              <a:t>保守边界与扩展方向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1 · 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6583680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微软雅黑"/>
              </a:rPr>
              <a:t>•  静态分析工具会在源码上报告大量“问题”，每条含文件名、函数、代码行、规则名等。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微软雅黑"/>
              </a:rPr>
              <a:t>•  其中相当一部分是误报 —— 代码实际没有违反规则，分析器却报了。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微软雅黑"/>
              </a:rPr>
              <a:t>•  现状：需要人工一条条点开、看代码、判断真伪。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E293B"/>
                </a:solidFill>
                <a:latin typeface="微软雅黑"/>
              </a:rPr>
              <a:t>•  成本高、枯燥、判据因人而异，是测试流水线的典型瓶颈。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371600"/>
            <a:ext cx="356616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389888"/>
            <a:ext cx="356616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上报问题总数 (n)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148840"/>
            <a:ext cx="3108960" cy="640080"/>
          </a:xfrm>
          <a:prstGeom prst="rect">
            <a:avLst/>
          </a:prstGeom>
          <a:solidFill>
            <a:srgbClr val="7F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212848"/>
            <a:ext cx="310896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真实问题 (少数)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926080"/>
            <a:ext cx="2651760" cy="640080"/>
          </a:xfrm>
          <a:prstGeom prst="rect">
            <a:avLst/>
          </a:prstGeom>
          <a:solidFill>
            <a:srgbClr val="B0C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990088"/>
            <a:ext cx="265176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</a:rPr>
              <a:t>误报 (多数)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794760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微软雅黑"/>
              </a:rPr>
              <a:t>误报比例越高，人工复核浪费越严重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图解 · 误报识别价值管道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4</a:t>
            </a:r>
          </a:p>
        </p:txBody>
      </p:sp>
      <p:pic>
        <p:nvPicPr>
          <p:cNvPr id="8" name="Picture 7" descr="误报识别管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234440"/>
            <a:ext cx="7943209920000" cy="444819755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5648" y="6144768"/>
            <a:ext cx="794320992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</a:rPr>
              <a:t>报告 → 自动判定 → 误报打 tag / 真实问题 → 仅人工复核真实问题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2 · 为什么这件事“难”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微软雅黑"/>
              </a:rPr>
              <a:t>“某个问题是不是误报”本质上是一个语义判断，而这类判断往往不可判定：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100584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✔ 例子：判断“数组会不会越界” —— 对任意 C 程序不存在通用的精确算法（可归约到停机问题 / Rice 定理，证明见附录）。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✔ 这解释了两件事：① 为什么分析器自身会误报（它必须在漏报与误报之间取舍）；② 为什么自动判误报容易掉进“启发式猜法”的坑。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5156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E293B"/>
                </a:solidFill>
                <a:latin typeface="微软雅黑"/>
              </a:rPr>
              <a:t>•  启发式猜法（按函数名、看着像就判）的代价：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用“把真缺陷也放走”去换“识别得多”，是拿正确性冒险 —— 这是本项目明确拒绝的。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3 · 核心解法：无虚警保证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灵魂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微软雅黑"/>
              </a:rPr>
              <a:t>只要被识别为误报，就必须（高概率确定）是误报；不确定时，宁可保守不判。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</a:rPr>
              <a:t>→ 宁可漏判，绝不误杀。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515600" cy="45720"/>
          </a:xfrm>
          <a:prstGeom prst="rect">
            <a:avLst/>
          </a:prstGeom>
          <a:solidFill>
            <a:srgbClr val="BF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微软雅黑"/>
              </a:rPr>
              <a:t>判了必对的“三类可验证依据”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3611880"/>
          <a:ext cx="105156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/>
                <a:gridCol w="7040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形式固定的写法（正则精确匹配）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宏调用、 (void) 表达式、 &amp;var、 #pragma inline_asm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可判定的语法 / 语义属性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全局作用域、静态存储期、编译期常量下标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可靠的 AST 语义信息（libclang）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存储类别、链接属性、canonical 类型、数组长度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图解 · 单条问题的误报判定流程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7</a:t>
            </a:r>
          </a:p>
        </p:txBody>
      </p:sp>
      <p:pic>
        <p:nvPicPr>
          <p:cNvPr id="8" name="Picture 7" descr="误报判定流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188720"/>
            <a:ext cx="7107082560000" cy="5171636702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12848" y="6890210"/>
            <a:ext cx="710708256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</a:rPr>
              <a:t>命中误报即短路并打 tag；无法证明的一律保守保留 → 宁缺毋滥、判了必对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4 · 技术选型：三板斧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技术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14300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3291840"/>
                <a:gridCol w="493776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正则 / 文本匹配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识别写法固定的模式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宏调用、(void)、&amp;var 等；成本最低，形式固定时正确性可保证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成本最低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libclang（AST）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语法 + 语义分析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存储类别、类型、数组长度、枚举值、宏定义值等可靠信息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语义可靠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clangd（LSP）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跨翻译单元的符号引用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查“所有引用处”（如返回值是否被使用）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引用最完整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4206240"/>
            <a:ext cx="10515600" cy="15544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100584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  <a:latin typeface="微软雅黑"/>
              </a:rPr>
              <a:t>•  亮点：clangd 用长驻会话 + compile_commands.json 实现跨编译单元的引用追溯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微软雅黑"/>
              </a:rPr>
              <a:t>•  常用方案答不出“这个返回值在全部调用点都没人用”，我们能做到 —— 这是 36S 规则的关键支撑。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图解 · 36S：clangd 跨翻译单元引用查询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9</a:t>
            </a:r>
          </a:p>
        </p:txBody>
      </p:sp>
      <p:pic>
        <p:nvPicPr>
          <p:cNvPr id="8" name="Picture 7" descr="clangd引用查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188720"/>
            <a:ext cx="5852891520000" cy="48566546655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98648" y="6545742"/>
            <a:ext cx="585289152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</a:rPr>
              <a:t>rule → clangd_tool → clangd(references) → libclang AST 验证返回值是否被使用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5 · 规则覆盖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7 条规则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325880"/>
          <a:ext cx="10972800" cy="3474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3108960"/>
                <a:gridCol w="7040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69D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变量未赋值就使用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声明处初始化 / 全局与静态零初始化 / 中途初始化 / 取地址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57S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无作用的语句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(void)·宏占位·日志·汇编·声明·函数调用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1X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声明类型不一致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两处声明 storage/linkage/canonical type 逐一比对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47S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数组越界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字面量 / 枚举 / 宏 / 变量下标边界约束分析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36S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函数没有返回语句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“所有引用处都不使用返回值” 判定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132S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逻辑表达式中使用赋值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赋值结果以“取值”方式被消费 → 判误报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404S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字符串数组越界初始化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初始化列表各维度数量不超声明大小（纯文本 + libclang）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微软雅黑"/>
              </a:rPr>
              <a:t>每项判定输出带可追溯 tag（如 &lt;已在声明处显式初始化&gt;），支持人工抽查复核。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6 · 工程架构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246888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246888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报告入口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4688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BFD3EA"/>
                </a:solidFill>
                <a:latin typeface="微软雅黑"/>
              </a:rPr>
              <a:t>data_structure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1627632"/>
            <a:ext cx="365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1417320"/>
            <a:ext cx="246888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63040"/>
            <a:ext cx="246888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编译上下文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28800"/>
            <a:ext cx="24688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BFD3EA"/>
                </a:solidFill>
                <a:latin typeface="微软雅黑"/>
              </a:rPr>
              <a:t>context + Preprocessor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627632"/>
            <a:ext cx="365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417320"/>
            <a:ext cx="246888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463040"/>
            <a:ext cx="246888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1828800"/>
            <a:ext cx="24688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BFD3EA"/>
                </a:solidFill>
                <a:latin typeface="微软雅黑"/>
              </a:rPr>
              <a:t>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27632"/>
            <a:ext cx="365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23376" y="1417320"/>
            <a:ext cx="246888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1463040"/>
            <a:ext cx="246888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各规则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1828800"/>
            <a:ext cx="24688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BFD3EA"/>
                </a:solidFill>
                <a:latin typeface="微软雅黑"/>
              </a:rPr>
              <a:t>rules/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E293B"/>
                </a:solidFill>
                <a:latin typeface="微软雅黑"/>
              </a:rPr>
              <a:t>•  多进程并行：worker 复用反序列化后的编译上下文，避免重复初始化；退出时清理孤儿 clangd 进程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E293B"/>
                </a:solidFill>
                <a:latin typeface="微软雅黑"/>
              </a:rPr>
              <a:t>•  compile_commands.json：给 clangd / libclang 统一提供编译参数，保证解析正确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E293B"/>
                </a:solidFill>
                <a:latin typeface="微软雅黑"/>
              </a:rPr>
              <a:t>•  模块化注册机制：新规则“导入即注册”，扩展成本低（易对接“多跑几条规则”）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E293B"/>
                </a:solidFill>
                <a:latin typeface="微软雅黑"/>
              </a:rPr>
              <a:t>•  外层“建议式”：识别为误报的条目不删除，仅打提示标签 → 天然可回退、可审计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图解 · 检查框架架构全视图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12</a:t>
            </a:r>
          </a:p>
        </p:txBody>
      </p:sp>
      <p:pic>
        <p:nvPicPr>
          <p:cNvPr id="8" name="Picture 7" descr="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234440"/>
            <a:ext cx="7943209920000" cy="423637862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5648" y="5913120"/>
            <a:ext cx="794320992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</a:rPr>
              <a:t>内部判定框架 + 语义后端（libclang / clangd）与编译数据库的依赖关系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图解 · 问题判定生命周期（建议式）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13</a:t>
            </a:r>
          </a:p>
        </p:txBody>
      </p:sp>
      <p:pic>
        <p:nvPicPr>
          <p:cNvPr id="8" name="Picture 7" descr="判定生命周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188720"/>
            <a:ext cx="6689018880000" cy="45048494497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41448" y="6161003"/>
            <a:ext cx="668901888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</a:rPr>
              <a:t>无论判误报与否，条目都不删除：命中打 tag，未命中保留待人工复核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7 · 落地效果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3291840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微软雅黑"/>
              </a:rPr>
              <a:t>误报率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291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C0392B"/>
                </a:solidFill>
                <a:latin typeface="微软雅黑"/>
              </a:rPr>
              <a:t>【待填】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2918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微软雅黑"/>
              </a:rPr>
              <a:t>识别误报数 / 上报问题总数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1417320"/>
            <a:ext cx="3291840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536192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微软雅黑"/>
              </a:rPr>
              <a:t>节约人工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965960"/>
            <a:ext cx="3291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C0392B"/>
                </a:solidFill>
                <a:latin typeface="微软雅黑"/>
              </a:rPr>
              <a:t>【待填】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468880"/>
            <a:ext cx="32918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微软雅黑"/>
              </a:rPr>
              <a:t>节省复核工时 / 条数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417320"/>
            <a:ext cx="3291840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1536192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微软雅黑"/>
              </a:rPr>
              <a:t>处理速度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1965960"/>
            <a:ext cx="3291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C0392B"/>
                </a:solidFill>
                <a:latin typeface="微软雅黑"/>
              </a:rPr>
              <a:t>【待填】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2468880"/>
            <a:ext cx="32918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微软雅黑"/>
              </a:rPr>
              <a:t>条 / 分钟（含多进程提升倍数）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200400"/>
            <a:ext cx="10241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83280"/>
            <a:ext cx="9784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微软雅黑"/>
              </a:rPr>
              <a:t>规则覆盖：已实现 7 条，命中即“可判定”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31920"/>
            <a:ext cx="97840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微软雅黑"/>
              </a:rPr>
              <a:t>•  所有判定输出均带可追溯 tag，支持抽查复核（可审计）。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  <a:latin typeface="微软雅黑"/>
              </a:rPr>
              <a:t>•  副本地由 5 条扩展至 7 条（新增 132S / 404S），持续演进中。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</a:rPr>
              <a:t>结果数据将在实跑补全后填入（标记为红色【待填】）。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8 · 挑战与下一步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10241280" cy="20116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9784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现在刻意保守，覆盖还不广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97840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微软雅黑"/>
              </a:rPr>
              <a:t>•  “中途初始化”在分支路径 / goto 控制流下的完整数据流追踪尚未完备（宁缺毋滥）。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微软雅黑"/>
              </a:rPr>
              <a:t>•  复杂下标、指针别名等场景未追踪，同样保守不判。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5156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微软雅黑"/>
              </a:rPr>
              <a:t>•  放开覆盖率边界：更多下标的可行判定域、完整初始化路径追踪。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微软雅黑"/>
              </a:rPr>
              <a:t>•  扩展更多规则（已从 5 → 7）。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微软雅黑"/>
              </a:rPr>
              <a:t>•  接入现有构建 / 测试流水线，做常态化跑批并沉淀历史误报标签。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31089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微软雅黑"/>
              </a:rPr>
              <a:t>以“无虚警保证”为原则，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54480"/>
            <a:ext cx="7315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>
                <a:solidFill>
                  <a:srgbClr val="1E293B"/>
                </a:solidFill>
                <a:latin typeface="微软雅黑"/>
              </a:rPr>
              <a:t>正面回答案了“自动判误报”这个不可判定难题。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31089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微软雅黑"/>
              </a:rPr>
              <a:t>用 libclang + clangd 的组合，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14600"/>
            <a:ext cx="7315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>
                <a:solidFill>
                  <a:srgbClr val="1E293B"/>
                </a:solidFill>
                <a:latin typeface="微软雅黑"/>
              </a:rPr>
              <a:t>把判断建立在可验证的语义上，而非猜测上。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31089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微软雅黑"/>
              </a:rPr>
              <a:t>覆盖 7 条规则，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7315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900" b="0">
                <a:solidFill>
                  <a:srgbClr val="1E293B"/>
                </a:solidFill>
                <a:latin typeface="微软雅黑"/>
              </a:rPr>
              <a:t>把人从大量无效人工复核里解放出来。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微软雅黑"/>
              </a:rPr>
              <a:t>—— 欢迎提问 ——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附录 A · 为什么“数组越界”不可判定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附录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51560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把“运行中是否发生越界”归约到停机问题（Rice 定理 + 非平凡语义性质）。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结论：不存在对任意程序精确判定越界的通用算法。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由此推出两条：① 分析器自身只能近似，这正是误报的来源；② 我们也只能做“保守近似”，于是“无虚警保证”不只是一句口号，而是理论约束下的必然策略。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86200"/>
            <a:ext cx="10515600" cy="21031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归约构造（示意）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100584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微软雅黑"/>
              </a:rPr>
              <a:t>•  int main(){ int arr[1]; simulate(M, w);   // 仅当 M(w) 停机时返回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微软雅黑"/>
              </a:rPr>
              <a:t>•      arr[1];                              // 越界访问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微软雅黑"/>
              </a:rPr>
              <a:t>•      return 0; }                           // M(w) 停机 ⇔ 发生越界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19456"/>
            <a:ext cx="109728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附录 B · 讲解话术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56032"/>
            <a:ext cx="1737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BFD3EA"/>
                </a:solidFill>
                <a:latin typeface="微软雅黑"/>
              </a:rPr>
              <a:t>附录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Aft>
                <a:spcPts val="18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谈保守策略：“我们认错的一定是错的；宁可多留几条让分析器接着报，也不放走一个真 bug。”</a:t>
            </a:r>
          </a:p>
          <a:p>
            <a:pPr>
              <a:spcAft>
                <a:spcPts val="18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谈 clangd 差异：“别的做法答不出‘这个返回值在所有调用点都没人用’，我们能在编译单元维度追到所有引用。”</a:t>
            </a:r>
          </a:p>
          <a:p>
            <a:pPr>
              <a:spcAft>
                <a:spcPts val="1800"/>
              </a:spcAft>
            </a:pPr>
            <a:r>
              <a:rPr sz="1700" b="0">
                <a:solidFill>
                  <a:srgbClr val="1E293B"/>
                </a:solidFill>
                <a:latin typeface="微软雅黑"/>
              </a:rPr>
              <a:t>•  谈成本取舍：“盲目追求全自动 = 拿正确性赌；我们选先保对、再扩量。”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微软雅黑"/>
              </a:rPr>
              <a:t>以上与报告文档《说明.md》一致，供答辩 / 评审随时展开理论细节。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47104"/>
            <a:ext cx="1219169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>
                <a:solidFill>
                  <a:srgbClr val="BFD3EA"/>
                </a:solidFill>
                <a:latin typeface="微软雅黑"/>
              </a:rPr>
              <a:t>任一“问题”是否误报，若有疑问欢迎复核各判定 tag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